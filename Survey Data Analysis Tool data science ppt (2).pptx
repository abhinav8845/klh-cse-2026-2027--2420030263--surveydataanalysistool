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2"/>
  </p:notesMasterIdLst>
  <p:sldIdLst>
    <p:sldId id="256" r:id="rId2"/>
    <p:sldId id="257" r:id="rId3"/>
    <p:sldId id="258" r:id="rId4"/>
    <p:sldId id="259" r:id="rId5"/>
    <p:sldId id="260" r:id="rId6"/>
    <p:sldId id="266"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40748-71C3-4B88-BE00-257BCCC6CA06}"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CF2AB5-FF90-4773-91F2-421363EBA6D2}" type="slidenum">
              <a:rPr lang="en-IN" smtClean="0"/>
              <a:t>‹#›</a:t>
            </a:fld>
            <a:endParaRPr lang="en-IN"/>
          </a:p>
        </p:txBody>
      </p:sp>
    </p:spTree>
    <p:extLst>
      <p:ext uri="{BB962C8B-B14F-4D97-AF65-F5344CB8AC3E}">
        <p14:creationId xmlns:p14="http://schemas.microsoft.com/office/powerpoint/2010/main" val="2137462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CCF2AB5-FF90-4773-91F2-421363EBA6D2}" type="slidenum">
              <a:rPr lang="en-IN" smtClean="0"/>
              <a:t>3</a:t>
            </a:fld>
            <a:endParaRPr lang="en-IN"/>
          </a:p>
        </p:txBody>
      </p:sp>
    </p:spTree>
    <p:extLst>
      <p:ext uri="{BB962C8B-B14F-4D97-AF65-F5344CB8AC3E}">
        <p14:creationId xmlns:p14="http://schemas.microsoft.com/office/powerpoint/2010/main" val="572355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2972125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422089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672216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45587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F58945-99C4-4336-BAB9-33BB3C2AB956}" type="datetimeFigureOut">
              <a:rPr lang="en-IN" smtClean="0"/>
              <a:t>15-09-2026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452390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835501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2632319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79532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25679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F58945-99C4-4336-BAB9-33BB3C2AB956}" type="datetimeFigureOut">
              <a:rPr lang="en-IN" smtClean="0"/>
              <a:t>15-09-2026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72074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2085520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69508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1670931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4194126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6422840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799225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F58945-99C4-4336-BAB9-33BB3C2AB956}" type="datetimeFigureOut">
              <a:rPr lang="en-IN" smtClean="0"/>
              <a:t>15-09-2026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747E34-0A07-49B2-87FC-3085B1CD174D}" type="slidenum">
              <a:rPr lang="en-IN" smtClean="0"/>
              <a:t>‹#›</a:t>
            </a:fld>
            <a:endParaRPr lang="en-IN"/>
          </a:p>
        </p:txBody>
      </p:sp>
    </p:spTree>
    <p:extLst>
      <p:ext uri="{BB962C8B-B14F-4D97-AF65-F5344CB8AC3E}">
        <p14:creationId xmlns:p14="http://schemas.microsoft.com/office/powerpoint/2010/main" val="348655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9F58945-99C4-4336-BAB9-33BB3C2AB956}" type="datetimeFigureOut">
              <a:rPr lang="en-IN" smtClean="0"/>
              <a:t>15-09-2026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3747E34-0A07-49B2-87FC-3085B1CD174D}" type="slidenum">
              <a:rPr lang="en-IN" smtClean="0"/>
              <a:t>‹#›</a:t>
            </a:fld>
            <a:endParaRPr lang="en-IN"/>
          </a:p>
        </p:txBody>
      </p:sp>
    </p:spTree>
    <p:extLst>
      <p:ext uri="{BB962C8B-B14F-4D97-AF65-F5344CB8AC3E}">
        <p14:creationId xmlns:p14="http://schemas.microsoft.com/office/powerpoint/2010/main" val="212912528"/>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25F47-2899-9EFE-7E94-1212D29FF18E}"/>
              </a:ext>
            </a:extLst>
          </p:cNvPr>
          <p:cNvSpPr>
            <a:spLocks noGrp="1"/>
          </p:cNvSpPr>
          <p:nvPr>
            <p:ph type="ctrTitle"/>
          </p:nvPr>
        </p:nvSpPr>
        <p:spPr>
          <a:xfrm>
            <a:off x="1524000" y="448733"/>
            <a:ext cx="9144000" cy="199813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Survey Data Analysis Tool</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968CB138-A405-3AAF-F7DE-965A39F2FB0A}"/>
              </a:ext>
            </a:extLst>
          </p:cNvPr>
          <p:cNvSpPr>
            <a:spLocks noGrp="1"/>
          </p:cNvSpPr>
          <p:nvPr>
            <p:ph type="subTitle" idx="1"/>
          </p:nvPr>
        </p:nvSpPr>
        <p:spPr>
          <a:xfrm>
            <a:off x="1524000" y="3293533"/>
            <a:ext cx="9144000" cy="1354667"/>
          </a:xfrm>
        </p:spPr>
        <p:txBody>
          <a:bodyPr>
            <a:normAutofit fontScale="85000" lnSpcReduction="20000"/>
          </a:bodyPr>
          <a:lstStyle/>
          <a:p>
            <a:pPr marL="342900" indent="-342900">
              <a:buFontTx/>
              <a:buChar char="-"/>
            </a:pPr>
            <a:r>
              <a:rPr lang="en-IN" dirty="0" err="1">
                <a:latin typeface="Calibri" panose="020F0502020204030204" pitchFamily="34" charset="0"/>
                <a:ea typeface="Calibri" panose="020F0502020204030204" pitchFamily="34" charset="0"/>
                <a:cs typeface="Calibri" panose="020F0502020204030204" pitchFamily="34" charset="0"/>
              </a:rPr>
              <a:t>Kongari</a:t>
            </a:r>
            <a:r>
              <a:rPr lang="en-IN" dirty="0">
                <a:latin typeface="Calibri" panose="020F0502020204030204" pitchFamily="34" charset="0"/>
                <a:ea typeface="Calibri" panose="020F0502020204030204" pitchFamily="34" charset="0"/>
                <a:cs typeface="Calibri" panose="020F0502020204030204" pitchFamily="34" charset="0"/>
              </a:rPr>
              <a:t> Abhinav </a:t>
            </a:r>
            <a:r>
              <a:rPr lang="en-IN" dirty="0"/>
              <a:t>– 2420030263</a:t>
            </a:r>
          </a:p>
          <a:p>
            <a:pPr marL="342900" indent="-342900">
              <a:buFontTx/>
              <a:buChar char="-"/>
            </a:pPr>
            <a:r>
              <a:rPr lang="en-IN" dirty="0"/>
              <a:t>Aluru Sri Tejaswi Priyank – 2420030276</a:t>
            </a:r>
          </a:p>
          <a:p>
            <a:pPr marL="342900" indent="-342900">
              <a:buFontTx/>
              <a:buChar char="-"/>
            </a:pPr>
            <a:r>
              <a:rPr lang="en-IN" dirty="0"/>
              <a:t>Sai Vinesh – </a:t>
            </a:r>
            <a:r>
              <a:rPr lang="en-US" dirty="0"/>
              <a:t>2420030691</a:t>
            </a:r>
          </a:p>
          <a:p>
            <a:pPr marL="342900" indent="-342900">
              <a:buFontTx/>
              <a:buChar char="-"/>
            </a:pPr>
            <a:r>
              <a:rPr lang="en-US" dirty="0"/>
              <a:t>Guide -  DR.N.SUNANDA</a:t>
            </a:r>
            <a:endParaRPr lang="en-IN" dirty="0"/>
          </a:p>
        </p:txBody>
      </p:sp>
    </p:spTree>
    <p:extLst>
      <p:ext uri="{BB962C8B-B14F-4D97-AF65-F5344CB8AC3E}">
        <p14:creationId xmlns:p14="http://schemas.microsoft.com/office/powerpoint/2010/main" val="172584746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40B46-BE2C-CB4C-E835-D8095CE657C5}"/>
              </a:ext>
            </a:extLst>
          </p:cNvPr>
          <p:cNvSpPr>
            <a:spLocks noGrp="1"/>
          </p:cNvSpPr>
          <p:nvPr>
            <p:ph type="title"/>
          </p:nvPr>
        </p:nvSpPr>
        <p:spPr>
          <a:xfrm>
            <a:off x="831850" y="1709738"/>
            <a:ext cx="10515600" cy="315005"/>
          </a:xfrm>
        </p:spPr>
        <p:txBody>
          <a:bodyPr>
            <a:normAutofit fontScale="90000"/>
          </a:bodyPr>
          <a:lstStyle/>
          <a:p>
            <a:r>
              <a:rPr lang="en-IN" sz="6700" dirty="0">
                <a:latin typeface="Calibri" panose="020F0502020204030204" pitchFamily="34" charset="0"/>
                <a:ea typeface="Calibri" panose="020F0502020204030204" pitchFamily="34" charset="0"/>
                <a:cs typeface="Calibri" panose="020F0502020204030204" pitchFamily="34" charset="0"/>
              </a:rPr>
              <a:t>Problem</a:t>
            </a:r>
            <a:r>
              <a:rPr lang="en-IN" dirty="0">
                <a:latin typeface="Calibri" panose="020F0502020204030204" pitchFamily="34" charset="0"/>
                <a:ea typeface="Calibri" panose="020F0502020204030204" pitchFamily="34" charset="0"/>
                <a:cs typeface="Calibri" panose="020F0502020204030204" pitchFamily="34" charset="0"/>
              </a:rPr>
              <a:t> </a:t>
            </a:r>
            <a:r>
              <a:rPr lang="en-IN" sz="6700" dirty="0">
                <a:latin typeface="Calibri" panose="020F0502020204030204" pitchFamily="34" charset="0"/>
                <a:ea typeface="Calibri" panose="020F0502020204030204" pitchFamily="34" charset="0"/>
                <a:cs typeface="Calibri" panose="020F0502020204030204" pitchFamily="34" charset="0"/>
              </a:rPr>
              <a:t>Statement</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C3BF70BF-BE1A-99BF-A32B-6E24D482519B}"/>
              </a:ext>
            </a:extLst>
          </p:cNvPr>
          <p:cNvSpPr>
            <a:spLocks noGrp="1"/>
          </p:cNvSpPr>
          <p:nvPr>
            <p:ph type="body" idx="1"/>
          </p:nvPr>
        </p:nvSpPr>
        <p:spPr>
          <a:xfrm>
            <a:off x="704850" y="1867240"/>
            <a:ext cx="10515600" cy="3803650"/>
          </a:xfrm>
        </p:spPr>
        <p:txBody>
          <a:bodyPr>
            <a:normAutofit/>
          </a:bodyPr>
          <a:lstStyle/>
          <a:p>
            <a:r>
              <a:rPr lang="en-IN" sz="1700" dirty="0">
                <a:solidFill>
                  <a:schemeClr val="tx1"/>
                </a:solidFill>
                <a:latin typeface="Calibri" panose="020F0502020204030204" pitchFamily="34" charset="0"/>
                <a:ea typeface="Calibri" panose="020F0502020204030204" pitchFamily="34" charset="0"/>
                <a:cs typeface="Calibri" panose="020F0502020204030204" pitchFamily="34" charset="0"/>
              </a:rPr>
              <a:t>Survey data is collected from many people to understand their opinions, interests, and preferences.  </a:t>
            </a:r>
            <a:r>
              <a:rPr lang="en-IN" sz="1700" dirty="0" err="1">
                <a:solidFill>
                  <a:schemeClr val="tx1"/>
                </a:solidFill>
                <a:latin typeface="Calibri" panose="020F0502020204030204" pitchFamily="34" charset="0"/>
                <a:ea typeface="Calibri" panose="020F0502020204030204" pitchFamily="34" charset="0"/>
                <a:cs typeface="Calibri" panose="020F0502020204030204" pitchFamily="34" charset="0"/>
              </a:rPr>
              <a:t>Analyzing</a:t>
            </a:r>
            <a:r>
              <a:rPr lang="en-IN" sz="1700" dirty="0">
                <a:solidFill>
                  <a:schemeClr val="tx1"/>
                </a:solidFill>
                <a:latin typeface="Calibri" panose="020F0502020204030204" pitchFamily="34" charset="0"/>
                <a:ea typeface="Calibri" panose="020F0502020204030204" pitchFamily="34" charset="0"/>
                <a:cs typeface="Calibri" panose="020F0502020204030204" pitchFamily="34" charset="0"/>
              </a:rPr>
              <a:t> raw survey data can be difficult because the data may contain missing values, duplicate entries, and inconsistent responses. It is also difficult to understand large amounts of survey data without proper analysis and visualization.</a:t>
            </a:r>
          </a:p>
          <a:p>
            <a:r>
              <a:rPr lang="en-IN" sz="1700" dirty="0">
                <a:solidFill>
                  <a:schemeClr val="tx1"/>
                </a:solidFill>
                <a:latin typeface="Calibri" panose="020F0502020204030204" pitchFamily="34" charset="0"/>
                <a:ea typeface="Calibri" panose="020F0502020204030204" pitchFamily="34" charset="0"/>
                <a:cs typeface="Calibri" panose="020F0502020204030204" pitchFamily="34" charset="0"/>
              </a:rPr>
              <a:t>The main problem is that users may need technical knowledge and different tools to clean, </a:t>
            </a:r>
            <a:r>
              <a:rPr lang="en-IN" sz="1700" dirty="0" err="1">
                <a:solidFill>
                  <a:schemeClr val="tx1"/>
                </a:solidFill>
                <a:latin typeface="Calibri" panose="020F0502020204030204" pitchFamily="34" charset="0"/>
                <a:ea typeface="Calibri" panose="020F0502020204030204" pitchFamily="34" charset="0"/>
                <a:cs typeface="Calibri" panose="020F0502020204030204" pitchFamily="34" charset="0"/>
              </a:rPr>
              <a:t>analyze</a:t>
            </a:r>
            <a:r>
              <a:rPr lang="en-IN" sz="1700" dirty="0">
                <a:solidFill>
                  <a:schemeClr val="tx1"/>
                </a:solidFill>
                <a:latin typeface="Calibri" panose="020F0502020204030204" pitchFamily="34" charset="0"/>
                <a:ea typeface="Calibri" panose="020F0502020204030204" pitchFamily="34" charset="0"/>
                <a:cs typeface="Calibri" panose="020F0502020204030204" pitchFamily="34" charset="0"/>
              </a:rPr>
              <a:t>, visualize, and interpret survey data. there is a need for a simple tool that can process survey data and present the results in an easy-to-understand way.</a:t>
            </a:r>
          </a:p>
          <a:p>
            <a:r>
              <a:rPr lang="en-IN" sz="1700" dirty="0">
                <a:solidFill>
                  <a:schemeClr val="tx1"/>
                </a:solidFill>
                <a:latin typeface="Calibri" panose="020F0502020204030204" pitchFamily="34" charset="0"/>
                <a:ea typeface="Calibri" panose="020F0502020204030204" pitchFamily="34" charset="0"/>
                <a:cs typeface="Calibri" panose="020F0502020204030204" pitchFamily="34" charset="0"/>
              </a:rPr>
              <a:t>The “Survey Data Analysis Tool” is developed to solve this problem by cleaning the survey data, performing basic data analysis, creating visualizations, and displaying the results through an interactive dashboard.</a:t>
            </a:r>
          </a:p>
          <a:p>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3335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1CA45-D01C-AB4A-1FEE-7A18910DF9D2}"/>
              </a:ext>
            </a:extLst>
          </p:cNvPr>
          <p:cNvSpPr>
            <a:spLocks noGrp="1"/>
          </p:cNvSpPr>
          <p:nvPr>
            <p:ph type="title"/>
          </p:nvPr>
        </p:nvSpPr>
        <p:spPr>
          <a:xfrm>
            <a:off x="831850" y="1709738"/>
            <a:ext cx="10515600" cy="200705"/>
          </a:xfrm>
        </p:spPr>
        <p:txBody>
          <a:bodyPr>
            <a:noAutofit/>
          </a:bodyPr>
          <a:lstStyle/>
          <a:p>
            <a:r>
              <a:rPr lang="en-IN" dirty="0"/>
              <a:t>Real-world relevance</a:t>
            </a:r>
          </a:p>
        </p:txBody>
      </p:sp>
      <p:sp>
        <p:nvSpPr>
          <p:cNvPr id="3" name="Text Placeholder 2">
            <a:extLst>
              <a:ext uri="{FF2B5EF4-FFF2-40B4-BE49-F238E27FC236}">
                <a16:creationId xmlns:a16="http://schemas.microsoft.com/office/drawing/2014/main" id="{946153D0-6402-5FE3-C60A-88DC8B16F395}"/>
              </a:ext>
            </a:extLst>
          </p:cNvPr>
          <p:cNvSpPr>
            <a:spLocks noGrp="1"/>
          </p:cNvSpPr>
          <p:nvPr>
            <p:ph type="body" idx="1"/>
          </p:nvPr>
        </p:nvSpPr>
        <p:spPr>
          <a:xfrm>
            <a:off x="831850" y="1910444"/>
            <a:ext cx="10515600" cy="3543300"/>
          </a:xfrm>
        </p:spPr>
        <p:txBody>
          <a:bodyPr>
            <a:normAutofit/>
          </a:bodyPr>
          <a:lstStyle/>
          <a:p>
            <a:r>
              <a:rPr lang="en-IN" sz="1600" dirty="0">
                <a:solidFill>
                  <a:schemeClr val="tx1"/>
                </a:solidFill>
              </a:rPr>
              <a:t>Survey data is widely used in real life by businesses, educational institutions, healthcare organizations, and researchers to understand people's opinions, preferences, and feedback. </a:t>
            </a:r>
            <a:r>
              <a:rPr lang="en-IN" sz="1600" dirty="0" err="1">
                <a:solidFill>
                  <a:schemeClr val="tx1"/>
                </a:solidFill>
              </a:rPr>
              <a:t>Analyzing</a:t>
            </a:r>
            <a:r>
              <a:rPr lang="en-IN" sz="1600" dirty="0">
                <a:solidFill>
                  <a:schemeClr val="tx1"/>
                </a:solidFill>
              </a:rPr>
              <a:t> a large amount of survey data manually can be difficult and time-consuming.</a:t>
            </a:r>
          </a:p>
          <a:p>
            <a:r>
              <a:rPr lang="en-IN" sz="1600" dirty="0">
                <a:solidFill>
                  <a:schemeClr val="tx1"/>
                </a:solidFill>
              </a:rPr>
              <a:t>The “Survey Data Analysis Tool” helps users clean, </a:t>
            </a:r>
            <a:r>
              <a:rPr lang="en-IN" sz="1600" dirty="0" err="1">
                <a:solidFill>
                  <a:schemeClr val="tx1"/>
                </a:solidFill>
              </a:rPr>
              <a:t>analyze</a:t>
            </a:r>
            <a:r>
              <a:rPr lang="en-IN" sz="1600" dirty="0">
                <a:solidFill>
                  <a:schemeClr val="tx1"/>
                </a:solidFill>
              </a:rPr>
              <a:t>, and visualize survey data in a simple and understandable way. Businesses can use it to understand customer preferences, colleges can use it to </a:t>
            </a:r>
            <a:r>
              <a:rPr lang="en-IN" sz="1600" dirty="0" err="1">
                <a:solidFill>
                  <a:schemeClr val="tx1"/>
                </a:solidFill>
              </a:rPr>
              <a:t>analyze</a:t>
            </a:r>
            <a:r>
              <a:rPr lang="en-IN" sz="1600" dirty="0">
                <a:solidFill>
                  <a:schemeClr val="tx1"/>
                </a:solidFill>
              </a:rPr>
              <a:t> student feedback, and organizations can use it to study employee opinions. The tool can also be useful in healthcare and research surveys for identifying patterns and trends in collected data.</a:t>
            </a:r>
          </a:p>
          <a:p>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075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4325-4B51-D414-E80F-C715C594D3F7}"/>
              </a:ext>
            </a:extLst>
          </p:cNvPr>
          <p:cNvSpPr>
            <a:spLocks noGrp="1"/>
          </p:cNvSpPr>
          <p:nvPr>
            <p:ph type="title"/>
          </p:nvPr>
        </p:nvSpPr>
        <p:spPr>
          <a:xfrm>
            <a:off x="831850" y="143934"/>
            <a:ext cx="10515600" cy="956733"/>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Motivation for selecting the problem</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C5A13E06-040C-FA65-124D-C249F27F47DC}"/>
              </a:ext>
            </a:extLst>
          </p:cNvPr>
          <p:cNvSpPr>
            <a:spLocks noGrp="1"/>
          </p:cNvSpPr>
          <p:nvPr>
            <p:ph type="body" idx="1"/>
          </p:nvPr>
        </p:nvSpPr>
        <p:spPr>
          <a:xfrm>
            <a:off x="831850" y="1100668"/>
            <a:ext cx="10515600" cy="3462866"/>
          </a:xfrm>
        </p:spPr>
        <p:txBody>
          <a:bodyPr>
            <a:normAutofit/>
          </a:bodyPr>
          <a:lstStyle/>
          <a:p>
            <a:r>
              <a:rPr lang="en-IN" sz="16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Survey data is collected in many areas such as education, business, healthcare, and research. Raw survey data can be difficult to understand and </a:t>
            </a:r>
            <a:r>
              <a:rPr lang="en-IN" sz="1600" dirty="0" err="1">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analyze</a:t>
            </a:r>
            <a:r>
              <a:rPr lang="en-IN" sz="16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 especially when the dataset contains a large number of responses, missing values, or inconsistent data.</a:t>
            </a:r>
          </a:p>
          <a:p>
            <a:r>
              <a:rPr lang="en-IN" sz="16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The main motivation for selecting this problem was to understand how data science techniques can be used to solve a real-world problem. This project provides an opportunity to apply concepts such as data cleaning, data analysis, data visualization, and statistical testing in a practical application.</a:t>
            </a:r>
          </a:p>
          <a:p>
            <a:r>
              <a:rPr lang="en-IN" sz="16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The goal is to develop a simple and useful tool that can convert raw survey data into meaningful insights and help users understand the results easily. The project was also selected because it has applications in many real-world areas and can be extended to </a:t>
            </a:r>
            <a:r>
              <a:rPr lang="en-IN" sz="1600" dirty="0" err="1">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analyze</a:t>
            </a:r>
            <a:r>
              <a:rPr lang="en-IN" sz="16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 different types of survey datasets.</a:t>
            </a:r>
          </a:p>
          <a:p>
            <a:endParaRPr lang="en-IN" sz="16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3562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7DD3-6FF7-AE24-1D61-77E67C62D4E8}"/>
              </a:ext>
            </a:extLst>
          </p:cNvPr>
          <p:cNvSpPr>
            <a:spLocks noGrp="1"/>
          </p:cNvSpPr>
          <p:nvPr>
            <p:ph type="title"/>
          </p:nvPr>
        </p:nvSpPr>
        <p:spPr>
          <a:xfrm>
            <a:off x="831850" y="310245"/>
            <a:ext cx="10515600" cy="654956"/>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Objectives</a:t>
            </a:r>
          </a:p>
        </p:txBody>
      </p:sp>
      <p:sp>
        <p:nvSpPr>
          <p:cNvPr id="3" name="Text Placeholder 2">
            <a:extLst>
              <a:ext uri="{FF2B5EF4-FFF2-40B4-BE49-F238E27FC236}">
                <a16:creationId xmlns:a16="http://schemas.microsoft.com/office/drawing/2014/main" id="{FA150E79-EC04-34AC-11A3-A8BA148D2D29}"/>
              </a:ext>
            </a:extLst>
          </p:cNvPr>
          <p:cNvSpPr>
            <a:spLocks noGrp="1"/>
          </p:cNvSpPr>
          <p:nvPr>
            <p:ph type="body" idx="1"/>
          </p:nvPr>
        </p:nvSpPr>
        <p:spPr>
          <a:xfrm>
            <a:off x="831850" y="965201"/>
            <a:ext cx="10515600" cy="2774043"/>
          </a:xfrm>
        </p:spPr>
        <p:txBody>
          <a:bodyPr>
            <a:normAutofit fontScale="25000" lnSpcReduction="20000"/>
          </a:bodyPr>
          <a:lstStyle/>
          <a:p>
            <a:pPr lvl="0"/>
            <a:r>
              <a:rPr lang="en-IN" sz="6400" dirty="0">
                <a:ea typeface="Calibri" panose="020F0502020204030204" pitchFamily="34" charset="0"/>
                <a:cs typeface="Calibri" panose="020F0502020204030204" pitchFamily="34" charset="0"/>
              </a:rPr>
              <a:t>Specific and measurable objectives :- To develop a tool for uploading and </a:t>
            </a:r>
            <a:r>
              <a:rPr lang="en-IN" sz="6400" dirty="0" err="1">
                <a:ea typeface="Calibri" panose="020F0502020204030204" pitchFamily="34" charset="0"/>
                <a:cs typeface="Calibri" panose="020F0502020204030204" pitchFamily="34" charset="0"/>
              </a:rPr>
              <a:t>analyzing</a:t>
            </a:r>
            <a:r>
              <a:rPr lang="en-IN" sz="6400" dirty="0">
                <a:ea typeface="Calibri" panose="020F0502020204030204" pitchFamily="34" charset="0"/>
                <a:cs typeface="Calibri" panose="020F0502020204030204" pitchFamily="34" charset="0"/>
              </a:rPr>
              <a:t> structured survey datasets.</a:t>
            </a:r>
          </a:p>
          <a:p>
            <a:pPr lvl="0"/>
            <a:r>
              <a:rPr lang="en-IN" sz="6400" dirty="0">
                <a:ea typeface="Calibri" panose="020F0502020204030204" pitchFamily="34" charset="0"/>
                <a:cs typeface="Calibri" panose="020F0502020204030204" pitchFamily="34" charset="0"/>
              </a:rPr>
              <a:t>To clean the survey data by handling missing values, duplicate records, and inconsistent data.</a:t>
            </a:r>
          </a:p>
          <a:p>
            <a:pPr lvl="0"/>
            <a:r>
              <a:rPr lang="en-IN" sz="6400" dirty="0">
                <a:ea typeface="Calibri" panose="020F0502020204030204" pitchFamily="34" charset="0"/>
                <a:cs typeface="Calibri" panose="020F0502020204030204" pitchFamily="34" charset="0"/>
              </a:rPr>
              <a:t>To perform basic exploratory data analysis and generate summary statistics.</a:t>
            </a:r>
          </a:p>
          <a:p>
            <a:pPr lvl="0"/>
            <a:r>
              <a:rPr lang="en-IN" sz="6400" dirty="0">
                <a:ea typeface="Calibri" panose="020F0502020204030204" pitchFamily="34" charset="0"/>
                <a:cs typeface="Calibri" panose="020F0502020204030204" pitchFamily="34" charset="0"/>
              </a:rPr>
              <a:t>To create visualizations such as bar charts, pie charts, and histograms to understand survey responses easily.</a:t>
            </a:r>
          </a:p>
          <a:p>
            <a:pPr lvl="0"/>
            <a:r>
              <a:rPr lang="en-IN" sz="6400" dirty="0">
                <a:ea typeface="Calibri" panose="020F0502020204030204" pitchFamily="34" charset="0"/>
                <a:cs typeface="Calibri" panose="020F0502020204030204" pitchFamily="34" charset="0"/>
              </a:rPr>
              <a:t>To apply the Chi-Square test to identify relationships between selected survey variables.</a:t>
            </a:r>
          </a:p>
          <a:p>
            <a:pPr lvl="0"/>
            <a:r>
              <a:rPr lang="en-IN" sz="6400" dirty="0">
                <a:ea typeface="Calibri" panose="020F0502020204030204" pitchFamily="34" charset="0"/>
                <a:cs typeface="Calibri" panose="020F0502020204030204" pitchFamily="34" charset="0"/>
              </a:rPr>
              <a:t>To integrate the analysis results and visualizations into a simple interactive dashboard.</a:t>
            </a:r>
          </a:p>
          <a:p>
            <a:pPr lvl="0"/>
            <a:endParaRPr lang="en-IN" sz="16000" dirty="0">
              <a:solidFill>
                <a:schemeClr val="tx1"/>
              </a:solidFill>
              <a:ea typeface="Calibri" panose="020F0502020204030204" pitchFamily="34" charset="0"/>
              <a:cs typeface="Calibri" panose="020F0502020204030204" pitchFamily="34" charset="0"/>
            </a:endParaRPr>
          </a:p>
          <a:p>
            <a:pPr lvl="0"/>
            <a:endParaRPr lang="en-IN" sz="6400" dirty="0">
              <a:ea typeface="Calibri" panose="020F0502020204030204" pitchFamily="34" charset="0"/>
              <a:cs typeface="Calibri" panose="020F0502020204030204" pitchFamily="34" charset="0"/>
            </a:endParaRPr>
          </a:p>
          <a:p>
            <a:endParaRPr lang="en-IN" sz="6400" dirty="0">
              <a:ea typeface="Calibri" panose="020F0502020204030204" pitchFamily="34" charset="0"/>
              <a:cs typeface="Calibri" panose="020F0502020204030204" pitchFamily="34" charset="0"/>
            </a:endParaRPr>
          </a:p>
          <a:p>
            <a:endParaRPr lang="en-IN"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9118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2D4CC-2C5C-3C29-A06B-31E74CA80FA8}"/>
              </a:ext>
            </a:extLst>
          </p:cNvPr>
          <p:cNvSpPr>
            <a:spLocks noGrp="1"/>
          </p:cNvSpPr>
          <p:nvPr>
            <p:ph type="title"/>
          </p:nvPr>
        </p:nvSpPr>
        <p:spPr>
          <a:xfrm>
            <a:off x="1154956" y="169334"/>
            <a:ext cx="8825657" cy="1574800"/>
          </a:xfrm>
        </p:spPr>
        <p:txBody>
          <a:bodyPr/>
          <a:lstStyle/>
          <a:p>
            <a:r>
              <a:rPr lang="en-IN" sz="4400" b="1" dirty="0">
                <a:latin typeface="Calibri" panose="020F0502020204030204" pitchFamily="34" charset="0"/>
                <a:ea typeface="Calibri" panose="020F0502020204030204" pitchFamily="34" charset="0"/>
                <a:cs typeface="Calibri" panose="020F0502020204030204" pitchFamily="34" charset="0"/>
              </a:rPr>
              <a:t>Expected Outcomes</a:t>
            </a:r>
            <a:br>
              <a:rPr lang="en-IN" sz="4400" b="1" dirty="0">
                <a:latin typeface="Calibri" panose="020F0502020204030204" pitchFamily="34" charset="0"/>
                <a:ea typeface="Calibri" panose="020F0502020204030204" pitchFamily="34" charset="0"/>
                <a:cs typeface="Calibri" panose="020F0502020204030204" pitchFamily="34" charset="0"/>
              </a:rPr>
            </a:br>
            <a:endParaRPr lang="en-IN" sz="4400" dirty="0"/>
          </a:p>
        </p:txBody>
      </p:sp>
      <p:sp>
        <p:nvSpPr>
          <p:cNvPr id="3" name="Text Placeholder 2">
            <a:extLst>
              <a:ext uri="{FF2B5EF4-FFF2-40B4-BE49-F238E27FC236}">
                <a16:creationId xmlns:a16="http://schemas.microsoft.com/office/drawing/2014/main" id="{B63E33D1-832E-A4CB-5CFD-B2F928D682AA}"/>
              </a:ext>
            </a:extLst>
          </p:cNvPr>
          <p:cNvSpPr>
            <a:spLocks noGrp="1"/>
          </p:cNvSpPr>
          <p:nvPr>
            <p:ph type="body" idx="1"/>
          </p:nvPr>
        </p:nvSpPr>
        <p:spPr>
          <a:xfrm>
            <a:off x="1154956" y="1017019"/>
            <a:ext cx="8825658" cy="2411981"/>
          </a:xfrm>
        </p:spPr>
        <p:txBody>
          <a:bodyPr>
            <a:normAutofit fontScale="25000" lnSpcReduction="20000"/>
          </a:bodyPr>
          <a:lstStyle/>
          <a:p>
            <a:pPr lvl="0"/>
            <a:r>
              <a:rPr lang="en-IN" sz="6400" dirty="0">
                <a:latin typeface="Calibri" panose="020F0502020204030204" pitchFamily="34" charset="0"/>
                <a:ea typeface="Calibri" panose="020F0502020204030204" pitchFamily="34" charset="0"/>
                <a:cs typeface="Calibri" panose="020F0502020204030204" pitchFamily="34" charset="0"/>
              </a:rPr>
              <a:t>A cleaned and processed survey dataset that is ready for analysis.</a:t>
            </a:r>
          </a:p>
          <a:p>
            <a:pPr lvl="0"/>
            <a:r>
              <a:rPr lang="en-IN" sz="6400" dirty="0">
                <a:latin typeface="Calibri" panose="020F0502020204030204" pitchFamily="34" charset="0"/>
                <a:ea typeface="Calibri" panose="020F0502020204030204" pitchFamily="34" charset="0"/>
                <a:cs typeface="Calibri" panose="020F0502020204030204" pitchFamily="34" charset="0"/>
              </a:rPr>
              <a:t>Easy-to-understand summary statistics showing important patterns in the survey data.</a:t>
            </a:r>
          </a:p>
          <a:p>
            <a:pPr lvl="0"/>
            <a:r>
              <a:rPr lang="en-IN" sz="6400" dirty="0">
                <a:latin typeface="Calibri" panose="020F0502020204030204" pitchFamily="34" charset="0"/>
                <a:ea typeface="Calibri" panose="020F0502020204030204" pitchFamily="34" charset="0"/>
                <a:cs typeface="Calibri" panose="020F0502020204030204" pitchFamily="34" charset="0"/>
              </a:rPr>
              <a:t>Visual representations of survey responses using different charts and graphs.</a:t>
            </a:r>
          </a:p>
          <a:p>
            <a:pPr lvl="0"/>
            <a:r>
              <a:rPr lang="en-IN" sz="6400" dirty="0">
                <a:latin typeface="Calibri" panose="020F0502020204030204" pitchFamily="34" charset="0"/>
                <a:ea typeface="Calibri" panose="020F0502020204030204" pitchFamily="34" charset="0"/>
                <a:cs typeface="Calibri" panose="020F0502020204030204" pitchFamily="34" charset="0"/>
              </a:rPr>
              <a:t>Statistical results showing whether there is a significant relationship between selected variables.</a:t>
            </a:r>
          </a:p>
          <a:p>
            <a:pPr lvl="0"/>
            <a:r>
              <a:rPr lang="en-IN" sz="6400" dirty="0">
                <a:latin typeface="Calibri" panose="020F0502020204030204" pitchFamily="34" charset="0"/>
                <a:ea typeface="Calibri" panose="020F0502020204030204" pitchFamily="34" charset="0"/>
                <a:cs typeface="Calibri" panose="020F0502020204030204" pitchFamily="34" charset="0"/>
              </a:rPr>
              <a:t>A simple interactive dashboard where users can view and explore the analysis results.</a:t>
            </a:r>
          </a:p>
          <a:p>
            <a:pPr lvl="0"/>
            <a:r>
              <a:rPr lang="en-IN" sz="6400" dirty="0">
                <a:latin typeface="Calibri" panose="020F0502020204030204" pitchFamily="34" charset="0"/>
                <a:ea typeface="Calibri" panose="020F0502020204030204" pitchFamily="34" charset="0"/>
                <a:cs typeface="Calibri" panose="020F0502020204030204" pitchFamily="34" charset="0"/>
              </a:rPr>
              <a:t>A reusable tool that can be applied to different structured survey datasets in areas such as education, business, healthcare, and research.</a:t>
            </a:r>
          </a:p>
          <a:p>
            <a:endParaRPr lang="en-IN" dirty="0"/>
          </a:p>
        </p:txBody>
      </p:sp>
      <p:pic>
        <p:nvPicPr>
          <p:cNvPr id="5" name="Picture 4">
            <a:extLst>
              <a:ext uri="{FF2B5EF4-FFF2-40B4-BE49-F238E27FC236}">
                <a16:creationId xmlns:a16="http://schemas.microsoft.com/office/drawing/2014/main" id="{3819B071-5B4D-E4CE-54FB-53BE270144D8}"/>
              </a:ext>
            </a:extLst>
          </p:cNvPr>
          <p:cNvPicPr>
            <a:picLocks noChangeAspect="1"/>
          </p:cNvPicPr>
          <p:nvPr/>
        </p:nvPicPr>
        <p:blipFill>
          <a:blip r:embed="rId2"/>
          <a:stretch>
            <a:fillRect/>
          </a:stretch>
        </p:blipFill>
        <p:spPr>
          <a:xfrm>
            <a:off x="2624667" y="3285067"/>
            <a:ext cx="5748866" cy="2810934"/>
          </a:xfrm>
          <a:prstGeom prst="rect">
            <a:avLst/>
          </a:prstGeom>
        </p:spPr>
      </p:pic>
    </p:spTree>
    <p:extLst>
      <p:ext uri="{BB962C8B-B14F-4D97-AF65-F5344CB8AC3E}">
        <p14:creationId xmlns:p14="http://schemas.microsoft.com/office/powerpoint/2010/main" val="428402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D7C2-3781-5A19-448F-B682274A3400}"/>
              </a:ext>
            </a:extLst>
          </p:cNvPr>
          <p:cNvSpPr>
            <a:spLocks noGrp="1"/>
          </p:cNvSpPr>
          <p:nvPr>
            <p:ph type="title"/>
          </p:nvPr>
        </p:nvSpPr>
        <p:spPr>
          <a:xfrm>
            <a:off x="831850" y="406401"/>
            <a:ext cx="10515600" cy="711200"/>
          </a:xfrm>
        </p:spPr>
        <p:txBody>
          <a:bodyPr>
            <a:normAutofit/>
          </a:bodyPr>
          <a:lstStyle/>
          <a:p>
            <a:r>
              <a:rPr lang="en-IN" dirty="0"/>
              <a:t>Literature survey/existing system</a:t>
            </a:r>
          </a:p>
        </p:txBody>
      </p:sp>
      <p:pic>
        <p:nvPicPr>
          <p:cNvPr id="5" name="Picture 4">
            <a:extLst>
              <a:ext uri="{FF2B5EF4-FFF2-40B4-BE49-F238E27FC236}">
                <a16:creationId xmlns:a16="http://schemas.microsoft.com/office/drawing/2014/main" id="{EB08FE7A-7DD0-89A6-336F-54D0D7455705}"/>
              </a:ext>
            </a:extLst>
          </p:cNvPr>
          <p:cNvPicPr>
            <a:picLocks noChangeAspect="1"/>
          </p:cNvPicPr>
          <p:nvPr/>
        </p:nvPicPr>
        <p:blipFill>
          <a:blip r:embed="rId2"/>
          <a:stretch>
            <a:fillRect/>
          </a:stretch>
        </p:blipFill>
        <p:spPr>
          <a:xfrm>
            <a:off x="165100" y="1261532"/>
            <a:ext cx="11010900" cy="5401733"/>
          </a:xfrm>
          <a:prstGeom prst="rect">
            <a:avLst/>
          </a:prstGeom>
        </p:spPr>
      </p:pic>
    </p:spTree>
    <p:extLst>
      <p:ext uri="{BB962C8B-B14F-4D97-AF65-F5344CB8AC3E}">
        <p14:creationId xmlns:p14="http://schemas.microsoft.com/office/powerpoint/2010/main" val="1843807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DAAC-222F-2FCC-81D5-85F5F093BA40}"/>
              </a:ext>
            </a:extLst>
          </p:cNvPr>
          <p:cNvSpPr>
            <a:spLocks noGrp="1"/>
          </p:cNvSpPr>
          <p:nvPr>
            <p:ph type="title"/>
          </p:nvPr>
        </p:nvSpPr>
        <p:spPr>
          <a:xfrm>
            <a:off x="831850" y="203201"/>
            <a:ext cx="10515600" cy="1227666"/>
          </a:xfrm>
        </p:spPr>
        <p:txBody>
          <a:bodyPr>
            <a:normAutofit fontScale="90000"/>
          </a:bodyPr>
          <a:lstStyle/>
          <a:p>
            <a:r>
              <a:rPr lang="en-IN" b="1" dirty="0"/>
              <a:t>Limitations / Gaps</a:t>
            </a:r>
            <a:br>
              <a:rPr lang="en-IN" b="1" dirty="0"/>
            </a:br>
            <a:endParaRPr lang="en-IN" dirty="0"/>
          </a:p>
        </p:txBody>
      </p:sp>
      <p:sp>
        <p:nvSpPr>
          <p:cNvPr id="3" name="Text Placeholder 2">
            <a:extLst>
              <a:ext uri="{FF2B5EF4-FFF2-40B4-BE49-F238E27FC236}">
                <a16:creationId xmlns:a16="http://schemas.microsoft.com/office/drawing/2014/main" id="{F762E5DD-22E4-9F53-B184-E573008B363D}"/>
              </a:ext>
            </a:extLst>
          </p:cNvPr>
          <p:cNvSpPr>
            <a:spLocks noGrp="1"/>
          </p:cNvSpPr>
          <p:nvPr>
            <p:ph type="body" idx="1"/>
          </p:nvPr>
        </p:nvSpPr>
        <p:spPr>
          <a:xfrm>
            <a:off x="831850" y="939801"/>
            <a:ext cx="10515600" cy="3234266"/>
          </a:xfrm>
        </p:spPr>
        <p:txBody>
          <a:bodyPr>
            <a:normAutofit/>
          </a:bodyPr>
          <a:lstStyle/>
          <a:p>
            <a:pPr lvl="0"/>
            <a:r>
              <a:rPr lang="en-IN" dirty="0"/>
              <a:t>Raw survey data may require manual cleaning before analysis.</a:t>
            </a:r>
          </a:p>
          <a:p>
            <a:pPr lvl="0"/>
            <a:r>
              <a:rPr lang="en-IN" dirty="0"/>
              <a:t>Different tools may be required for data cleaning, analysis, visualization, and statistical testing.</a:t>
            </a:r>
          </a:p>
          <a:p>
            <a:pPr lvl="0"/>
            <a:r>
              <a:rPr lang="en-IN" dirty="0"/>
              <a:t>Tools such as Python and R require programming knowledge.</a:t>
            </a:r>
          </a:p>
          <a:p>
            <a:pPr lvl="0"/>
            <a:r>
              <a:rPr lang="en-IN" dirty="0"/>
              <a:t>Large survey datasets can be difficult for non-technical users to understand.</a:t>
            </a:r>
          </a:p>
          <a:p>
            <a:pPr lvl="0"/>
            <a:r>
              <a:rPr lang="en-IN" dirty="0"/>
              <a:t>Analysis results may not be available in a single simple interface.</a:t>
            </a:r>
          </a:p>
          <a:p>
            <a:endParaRPr lang="en-IN" dirty="0"/>
          </a:p>
        </p:txBody>
      </p:sp>
    </p:spTree>
    <p:extLst>
      <p:ext uri="{BB962C8B-B14F-4D97-AF65-F5344CB8AC3E}">
        <p14:creationId xmlns:p14="http://schemas.microsoft.com/office/powerpoint/2010/main" val="359084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FE026-EB47-5CF1-7E1F-4586B79748D3}"/>
              </a:ext>
            </a:extLst>
          </p:cNvPr>
          <p:cNvSpPr>
            <a:spLocks noGrp="1"/>
          </p:cNvSpPr>
          <p:nvPr>
            <p:ph type="title"/>
          </p:nvPr>
        </p:nvSpPr>
        <p:spPr>
          <a:xfrm>
            <a:off x="831850" y="321735"/>
            <a:ext cx="10515600" cy="1634066"/>
          </a:xfrm>
        </p:spPr>
        <p:txBody>
          <a:bodyPr/>
          <a:lstStyle/>
          <a:p>
            <a:r>
              <a:rPr lang="en-IN" dirty="0"/>
              <a:t>How the Proposed Project addresses the gap</a:t>
            </a:r>
          </a:p>
        </p:txBody>
      </p:sp>
      <p:sp>
        <p:nvSpPr>
          <p:cNvPr id="3" name="Text Placeholder 2">
            <a:extLst>
              <a:ext uri="{FF2B5EF4-FFF2-40B4-BE49-F238E27FC236}">
                <a16:creationId xmlns:a16="http://schemas.microsoft.com/office/drawing/2014/main" id="{1BC3C7A1-BA8B-3C9B-81C6-C170BC94C296}"/>
              </a:ext>
            </a:extLst>
          </p:cNvPr>
          <p:cNvSpPr>
            <a:spLocks noGrp="1"/>
          </p:cNvSpPr>
          <p:nvPr>
            <p:ph type="body" idx="1"/>
          </p:nvPr>
        </p:nvSpPr>
        <p:spPr>
          <a:xfrm>
            <a:off x="831850" y="1955802"/>
            <a:ext cx="10515600" cy="3158066"/>
          </a:xfrm>
        </p:spPr>
        <p:txBody>
          <a:bodyPr>
            <a:normAutofit/>
          </a:bodyPr>
          <a:lstStyle/>
          <a:p>
            <a:r>
              <a:rPr lang="en-IN" dirty="0"/>
              <a:t>The proposed Survey Data Analysis Tool provides a simple and structured approach for </a:t>
            </a:r>
            <a:r>
              <a:rPr lang="en-IN" dirty="0" err="1"/>
              <a:t>analyzing</a:t>
            </a:r>
            <a:r>
              <a:rPr lang="en-IN" dirty="0"/>
              <a:t> survey data. It combines data cleaning, exploratory data analysis, visualization, and statistical testing in a single system.</a:t>
            </a:r>
          </a:p>
          <a:p>
            <a:r>
              <a:rPr lang="en-IN" dirty="0"/>
              <a:t>The tool helps users handle missing values, duplicate records, and inconsistent data. It also generates summary statistics and visualizations such as bar charts, pie charts, and histograms. The Chi-Square test can be used to </a:t>
            </a:r>
            <a:r>
              <a:rPr lang="en-IN" dirty="0" err="1"/>
              <a:t>analyze</a:t>
            </a:r>
            <a:r>
              <a:rPr lang="en-IN" dirty="0"/>
              <a:t> relationships between selected survey variables.</a:t>
            </a:r>
          </a:p>
          <a:p>
            <a:endParaRPr lang="en-IN" dirty="0"/>
          </a:p>
        </p:txBody>
      </p:sp>
    </p:spTree>
    <p:extLst>
      <p:ext uri="{BB962C8B-B14F-4D97-AF65-F5344CB8AC3E}">
        <p14:creationId xmlns:p14="http://schemas.microsoft.com/office/powerpoint/2010/main" val="1631150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lorful thank you illustration with 3d text and geometric shapes ...">
            <a:extLst>
              <a:ext uri="{FF2B5EF4-FFF2-40B4-BE49-F238E27FC236}">
                <a16:creationId xmlns:a16="http://schemas.microsoft.com/office/drawing/2014/main" id="{BAB44680-C51C-74E0-B774-4265EDC1652A}"/>
              </a:ext>
            </a:extLst>
          </p:cNvPr>
          <p:cNvPicPr>
            <a:picLocks noChangeAspect="1"/>
          </p:cNvPicPr>
          <p:nvPr/>
        </p:nvPicPr>
        <p:blipFill>
          <a:blip r:embed="rId2"/>
          <a:stretch>
            <a:fillRect/>
          </a:stretch>
        </p:blipFill>
        <p:spPr>
          <a:xfrm>
            <a:off x="2277534" y="857250"/>
            <a:ext cx="7287683" cy="5143500"/>
          </a:xfrm>
          <a:prstGeom prst="rect">
            <a:avLst/>
          </a:prstGeom>
        </p:spPr>
      </p:pic>
    </p:spTree>
    <p:extLst>
      <p:ext uri="{BB962C8B-B14F-4D97-AF65-F5344CB8AC3E}">
        <p14:creationId xmlns:p14="http://schemas.microsoft.com/office/powerpoint/2010/main" val="653309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79</TotalTime>
  <Words>778</Words>
  <Application>Microsoft Office PowerPoint</Application>
  <PresentationFormat>Widescreen</PresentationFormat>
  <Paragraphs>43</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Calibri</vt:lpstr>
      <vt:lpstr>Century Gothic</vt:lpstr>
      <vt:lpstr>Wingdings 3</vt:lpstr>
      <vt:lpstr>Ion</vt:lpstr>
      <vt:lpstr>Survey Data Analysis Tool</vt:lpstr>
      <vt:lpstr>Problem Statement</vt:lpstr>
      <vt:lpstr>Real-world relevance</vt:lpstr>
      <vt:lpstr>Motivation for selecting the problem</vt:lpstr>
      <vt:lpstr>Objectives</vt:lpstr>
      <vt:lpstr>Expected Outcomes </vt:lpstr>
      <vt:lpstr>Literature survey/existing system</vt:lpstr>
      <vt:lpstr>Limitations / Gaps </vt:lpstr>
      <vt:lpstr>How the Proposed Project addresses the gap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ALURU SRI TEJASWI PRIYANK 2420030276</dc:creator>
  <cp:lastModifiedBy>ALURU SRI TEJASWI PRIYANK 2420030276</cp:lastModifiedBy>
  <cp:revision>8</cp:revision>
  <dcterms:created xsi:type="dcterms:W3CDTF">2026-09-09T09:43:58Z</dcterms:created>
  <dcterms:modified xsi:type="dcterms:W3CDTF">2026-09-15T04:01:25Z</dcterms:modified>
</cp:coreProperties>
</file>